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000000"/>
                </a:solidFill>
                <a:latin typeface="Calibri"/>
              </a:rPr>
              <a:t>Distribución por categoría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Gasto por categoría (mes actual)</c:v>
                </c:pt>
              </c:strCache>
            </c:strRef>
          </c:tx>
          <c:spPr>
            <a:solidFill>
              <a:srgbClr val="126E6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Alimentación</c:v>
                </c:pt>
                <c:pt idx="1">
                  <c:v>Transporte</c:v>
                </c:pt>
                <c:pt idx="2">
                  <c:v>Servicios</c:v>
                </c:pt>
                <c:pt idx="3">
                  <c:v>Salud</c:v>
                </c:pt>
                <c:pt idx="4">
                  <c:v>Educación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420</c:v>
                </c:pt>
                <c:pt idx="1">
                  <c:v>180</c:v>
                </c:pt>
                <c:pt idx="2">
                  <c:v>260</c:v>
                </c:pt>
                <c:pt idx="3">
                  <c:v>90</c:v>
                </c:pt>
                <c:pt idx="4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70-4AF3-8FEB-886B8963B22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60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DD9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60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000000"/>
                </a:solidFill>
                <a:latin typeface="Calibri"/>
              </a:rPr>
              <a:t>Proveedores principales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Proveedores principales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26E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E90-4F45-A21C-30BCBB867723}"/>
              </c:ext>
            </c:extLst>
          </c:dPt>
          <c:dPt>
            <c:idx val="1"/>
            <c:bubble3D val="0"/>
            <c:spPr>
              <a:solidFill>
                <a:srgbClr val="C879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E90-4F45-A21C-30BCBB867723}"/>
              </c:ext>
            </c:extLst>
          </c:dPt>
          <c:dPt>
            <c:idx val="2"/>
            <c:bubble3D val="0"/>
            <c:spPr>
              <a:solidFill>
                <a:srgbClr val="1E2E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E90-4F45-A21C-30BCBB867723}"/>
              </c:ext>
            </c:extLst>
          </c:dPt>
          <c:dPt>
            <c:idx val="3"/>
            <c:bubble3D val="0"/>
            <c:spPr>
              <a:solidFill>
                <a:srgbClr val="DDD9C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E90-4F45-A21C-30BCBB86772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E90-4F45-A21C-30BCBB86772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E90-4F45-A21C-30BCBB86772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E90-4F45-A21C-30BCBB867723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E90-4F45-A21C-30BCBB86772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Zumarket</c:v>
                </c:pt>
                <c:pt idx="1">
                  <c:v>Farmacorp</c:v>
                </c:pt>
                <c:pt idx="2">
                  <c:v>Transporte S.A.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20</c:v>
                </c:pt>
                <c:pt idx="2">
                  <c:v>15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E90-4F45-A21C-30BCBB8677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2607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3441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85800"/>
            <a:ext cx="777240" cy="777240"/>
          </a:xfrm>
          <a:prstGeom prst="roundRect">
            <a:avLst>
              <a:gd name="adj" fmla="val 21176"/>
            </a:avLst>
          </a:prstGeom>
          <a:solidFill>
            <a:srgbClr val="126E62"/>
          </a:solidFill>
          <a:ln/>
        </p:spPr>
      </p:sp>
      <p:pic>
        <p:nvPicPr>
          <p:cNvPr id="3" name="Image 0" descr="/home/claude/pptx_work/icons/filetex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886968"/>
            <a:ext cx="384048" cy="38404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3317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FacturaLens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 escaneo y archivo local de facturas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7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2 · Gestión de datos con persistencia local (Sqflite)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66928" y="5989320"/>
            <a:ext cx="3840480" cy="0"/>
          </a:xfrm>
          <a:prstGeom prst="line">
            <a:avLst/>
          </a:prstGeom>
          <a:noFill/>
          <a:ln w="12700">
            <a:solidFill>
              <a:srgbClr val="3A4A7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" y="6080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elegido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2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problema cotidiano y trivial que exige gestión de datos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F4F6F8"/>
          </a:solidFill>
          <a:ln w="12700">
            <a:solidFill>
              <a:srgbClr val="DDD9CF"/>
            </a:solidFill>
            <a:prstDash val="solid"/>
          </a:ln>
        </p:spPr>
      </p:sp>
      <p:pic>
        <p:nvPicPr>
          <p:cNvPr id="5" name="Image 0" descr="/home/claude/pptx_work/icons/target_126E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031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2148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800" b="1" dirty="0" err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ompras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788920"/>
            <a:ext cx="4709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facturas y tickets de compra se acumulan en papel, se desvanecen (térmico) y nadie sabe cuánto gastó este mes ni en qué.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forma sencilla de agrupar el gasto por proveedor o categoría sin pasar los datos a mano a una hoja de cálculo.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necesita un archivo local, buscable, con historial — sin depender de un servidor.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72200" y="1783080"/>
            <a:ext cx="5468112" cy="4206240"/>
          </a:xfrm>
          <a:prstGeom prst="roundRect">
            <a:avLst>
              <a:gd name="adj" fmla="val 2609"/>
            </a:avLst>
          </a:prstGeom>
          <a:solidFill>
            <a:srgbClr val="14213D"/>
          </a:solidFill>
          <a:ln/>
        </p:spPr>
      </p:sp>
      <p:pic>
        <p:nvPicPr>
          <p:cNvPr id="9" name="Image 1" descr="/home/claude/pptx_work/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10312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132320" y="21488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FacturaLens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492240" y="278892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Fotografiar el ticket (cámara o galería).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 el texto automáticamente con OCR.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Guardarlo localmente, organizado por proveedor y categoría.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listados y estadísticas de gasto al instante.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por capas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clara entre UI, lógica de aplicación, dominio e infraestructura (patrón puertos y adaptadores)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126E6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6771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Pages, widgets, App Shell (Provider)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761488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0C554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8529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24612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ViewModels, ReceiptParser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739896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1E2E5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83133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22452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+ Ports (interfaces)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718304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1421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80974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20293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Sqflite, ML Kit, path_provider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87959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2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dominio define “DocumentCapturePort” e “InvoiceRepository” como interfaces; la infraestructura los implementa con plugins reales (image_picker, google_mlkit_text_recognition, sqflite). La UI nunca conoce los plugins directamente.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Persistencia local — Sqflite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relacional embebida (facturalens.db) con 5 tablas — supera el mínimo de 3 archivos de datos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949440" cy="786384"/>
          </a:xfrm>
          <a:prstGeom prst="roundRect">
            <a:avLst>
              <a:gd name="adj" fmla="val 9302"/>
            </a:avLst>
          </a:prstGeom>
          <a:solidFill>
            <a:srgbClr val="F4F6F8"/>
          </a:solidFill>
          <a:ln w="12700">
            <a:solidFill>
              <a:srgbClr val="DDD9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202996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126E62"/>
          </a:solidFill>
          <a:ln/>
        </p:spPr>
      </p:sp>
      <p:pic>
        <p:nvPicPr>
          <p:cNvPr id="6" name="Image 0" descr="/home/claude/pptx_work/icons/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39696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947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suppliers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229514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Proveedores: nombre, NIT, dirección, teléfono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752344"/>
            <a:ext cx="6949440" cy="786384"/>
          </a:xfrm>
          <a:prstGeom prst="roundRect">
            <a:avLst>
              <a:gd name="adj" fmla="val 9302"/>
            </a:avLst>
          </a:prstGeom>
          <a:solidFill>
            <a:srgbClr val="F4F6F8"/>
          </a:solidFill>
          <a:ln w="12700">
            <a:solidFill>
              <a:srgbClr val="DDD9C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290779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126E62"/>
          </a:solidFill>
          <a:ln/>
        </p:spPr>
      </p:sp>
      <p:pic>
        <p:nvPicPr>
          <p:cNvPr id="11" name="Image 1" descr="/home/claude/pptx_work/icons/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01752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71600" y="28254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categories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371600" y="317296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de gasto (Alimentación, Transporte, etc.)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630168"/>
            <a:ext cx="6949440" cy="786384"/>
          </a:xfrm>
          <a:prstGeom prst="roundRect">
            <a:avLst>
              <a:gd name="adj" fmla="val 9302"/>
            </a:avLst>
          </a:prstGeom>
          <a:solidFill>
            <a:srgbClr val="F4F6F8"/>
          </a:solidFill>
          <a:ln w="12700">
            <a:solidFill>
              <a:srgbClr val="DDD9C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3232" y="37856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126E62"/>
          </a:solidFill>
          <a:ln/>
        </p:spPr>
      </p:sp>
      <p:pic>
        <p:nvPicPr>
          <p:cNvPr id="16" name="Image 2" descr="/home/claude/pptx_work/icons/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953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371600" y="405079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Factura: número, fecha, subtotal, impuesto, total, estado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507992"/>
            <a:ext cx="6949440" cy="786384"/>
          </a:xfrm>
          <a:prstGeom prst="roundRect">
            <a:avLst>
              <a:gd name="adj" fmla="val 9302"/>
            </a:avLst>
          </a:prstGeom>
          <a:solidFill>
            <a:srgbClr val="F4F6F8"/>
          </a:solidFill>
          <a:ln w="12700">
            <a:solidFill>
              <a:srgbClr val="DDD9C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13232" y="466344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126E62"/>
          </a:solidFill>
          <a:ln/>
        </p:spPr>
      </p:sp>
      <p:pic>
        <p:nvPicPr>
          <p:cNvPr id="21" name="Image 3" descr="/home/claude/pptx_work/icons/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773168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71600" y="45811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invoice_items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1371600" y="4928616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Líneas de detalle: descripción, cantidad, precio unitario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5385816"/>
            <a:ext cx="6949440" cy="786384"/>
          </a:xfrm>
          <a:prstGeom prst="roundRect">
            <a:avLst>
              <a:gd name="adj" fmla="val 9302"/>
            </a:avLst>
          </a:prstGeom>
          <a:solidFill>
            <a:srgbClr val="F4F6F8"/>
          </a:solidFill>
          <a:ln w="12700">
            <a:solidFill>
              <a:srgbClr val="DDD9C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13232" y="554126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126E62"/>
          </a:solidFill>
          <a:ln/>
        </p:spPr>
      </p:sp>
      <p:pic>
        <p:nvPicPr>
          <p:cNvPr id="26" name="Image 4" descr="/home/claude/pptx_work/icons/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650992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371600" y="5458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invoice_images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1371600" y="580644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de las fotos capturadas + texto OCR por página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7772400" y="1874520"/>
            <a:ext cx="3867912" cy="4343400"/>
          </a:xfrm>
          <a:prstGeom prst="roundRect">
            <a:avLst>
              <a:gd name="adj" fmla="val 2837"/>
            </a:avLst>
          </a:prstGeom>
          <a:solidFill>
            <a:srgbClr val="14213D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8092440" y="2103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</a:t>
            </a:r>
            <a:endParaRPr lang="en-US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8092440" y="260604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→ suppliers (N:1)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→ categories (N:1, opcional)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invoice_items → invoices (N:1, CASCADE)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invoice_images → invoices (N:1, CASCADE)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8092440" y="52120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F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Índices en fecha y estado de la factura para listados y reportes rápidos.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implementado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completas de Crear, Leer, Actualizar y Eliminar sobre las tres entidades principales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DD9CF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126E62"/>
          </a:solidFill>
          <a:ln/>
        </p:spPr>
      </p:sp>
      <p:pic>
        <p:nvPicPr>
          <p:cNvPr id="6" name="Image 0" descr="/home/claude/pptx_work/icons/filetex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304288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8803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429000"/>
            <a:ext cx="3063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2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save() – crear / actualizar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2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findAll() / findById() – leer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2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delete() – eliminar + limpia imágenes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79976" y="187452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DD9CF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54296" y="2148840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126E62"/>
          </a:solidFill>
          <a:ln/>
        </p:spPr>
      </p:sp>
      <p:pic>
        <p:nvPicPr>
          <p:cNvPr id="11" name="Image 1" descr="/home/claude/pptx_work/icons/us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2304288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54296" y="28803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54296" y="3429000"/>
            <a:ext cx="3063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2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saveSupplier() – crear / actualizar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2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findSuppliers() – leer (con búsqueda)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2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deleteSupplier() – eliminar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11312" y="187452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DD9CF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85632" y="2148840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126E62"/>
          </a:solidFill>
          <a:ln/>
        </p:spPr>
      </p:sp>
      <p:pic>
        <p:nvPicPr>
          <p:cNvPr id="16" name="Image 2" descr="/home/claude/pptx_work/icons/tag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2304288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85632" y="28803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485632" y="3429000"/>
            <a:ext cx="3063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2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saveCategory() – crear / actualizar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2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findCategories() – leer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2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deleteCategory() – eliminar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Listados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pantallas de listado navegables desde el menú principal (se piden al menos tres)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F4F6F8"/>
          </a:solidFill>
          <a:ln w="12700">
            <a:solidFill>
              <a:srgbClr val="DDD9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240280"/>
            <a:ext cx="548640" cy="548640"/>
          </a:xfrm>
          <a:prstGeom prst="roundRect">
            <a:avLst>
              <a:gd name="adj" fmla="val 21667"/>
            </a:avLst>
          </a:prstGeom>
          <a:solidFill>
            <a:srgbClr val="14213D"/>
          </a:solidFill>
          <a:ln/>
        </p:spPr>
      </p:sp>
      <p:pic>
        <p:nvPicPr>
          <p:cNvPr id="6" name="Image 0" descr="/home/claude/pptx_work/icons/lay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3774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971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(Dashboard)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70332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2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del mes + accesos rápidos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83280" y="196596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F4F6F8"/>
          </a:solidFill>
          <a:ln w="12700">
            <a:solidFill>
              <a:srgbClr val="DDD9C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39312" y="2240280"/>
            <a:ext cx="548640" cy="548640"/>
          </a:xfrm>
          <a:prstGeom prst="roundRect">
            <a:avLst>
              <a:gd name="adj" fmla="val 21667"/>
            </a:avLst>
          </a:prstGeom>
          <a:solidFill>
            <a:srgbClr val="14213D"/>
          </a:solidFill>
          <a:ln/>
        </p:spPr>
      </p:sp>
      <p:pic>
        <p:nvPicPr>
          <p:cNvPr id="11" name="Image 1" descr="/home/claude/pptx_work/icons/filetex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472" y="23774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39312" y="2971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639312" y="370332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2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facturas: búsqueda, filtro por estado y categoría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17920" y="196596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F4F6F8"/>
          </a:solidFill>
          <a:ln w="12700">
            <a:solidFill>
              <a:srgbClr val="DDD9C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73952" y="2240280"/>
            <a:ext cx="548640" cy="548640"/>
          </a:xfrm>
          <a:prstGeom prst="roundRect">
            <a:avLst>
              <a:gd name="adj" fmla="val 21667"/>
            </a:avLst>
          </a:prstGeom>
          <a:solidFill>
            <a:srgbClr val="14213D"/>
          </a:solidFill>
          <a:ln/>
        </p:spPr>
      </p:sp>
      <p:pic>
        <p:nvPicPr>
          <p:cNvPr id="16" name="Image 2" descr="/home/claude/pptx_work/icons/user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12" y="237744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73952" y="2971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473952" y="370332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2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comercios registrados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52560" y="196596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F4F6F8"/>
          </a:solidFill>
          <a:ln w="12700">
            <a:solidFill>
              <a:srgbClr val="DDD9C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308592" y="2240280"/>
            <a:ext cx="548640" cy="548640"/>
          </a:xfrm>
          <a:prstGeom prst="roundRect">
            <a:avLst>
              <a:gd name="adj" fmla="val 21667"/>
            </a:avLst>
          </a:prstGeom>
          <a:solidFill>
            <a:srgbClr val="14213D"/>
          </a:solidFill>
          <a:ln/>
        </p:spPr>
      </p:sp>
      <p:pic>
        <p:nvPicPr>
          <p:cNvPr id="21" name="Image 3" descr="/home/claude/pptx_work/icons/tag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5752" y="237744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08592" y="2971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308592" y="370332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2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Clasificaciones de gasto, con color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Estadísticas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pantalla de Análisis calcula métricas en tiempo real a partir de las facturas verificadas (se piden un par; aquí hay seis)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7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del mes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de facturas verificadas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87452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1421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26280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7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vs. mes anterior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5146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Variación mes a mes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87452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1421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75320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7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promedio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5146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promedio por factura</a:t>
            </a:r>
            <a:endParaRPr lang="en-US" sz="115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548640" y="3520440"/>
          <a:ext cx="548640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"/>
          <p:cNvGraphicFramePr/>
          <p:nvPr/>
        </p:nvGraphicFramePr>
        <p:xfrm>
          <a:off x="6263640" y="3520440"/>
          <a:ext cx="539496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Bonus: captura y OCR automático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del CRUD básico: la app lee el ticket por cámara/galería y extrae los datos automáticamente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4213D"/>
          </a:solidFill>
          <a:ln/>
        </p:spPr>
      </p:sp>
      <p:sp>
        <p:nvSpPr>
          <p:cNvPr id="5" name="Shape 3"/>
          <p:cNvSpPr/>
          <p:nvPr/>
        </p:nvSpPr>
        <p:spPr>
          <a:xfrm>
            <a:off x="1485900" y="23774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pptx_work/icons/camera_1421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204" y="25237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3291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Captura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70332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image_picker: cámara o galería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3163824" y="34290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2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374136" y="21031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26E62"/>
          </a:solidFill>
          <a:ln/>
        </p:spPr>
      </p:sp>
      <p:sp>
        <p:nvSpPr>
          <p:cNvPr id="11" name="Shape 8"/>
          <p:cNvSpPr/>
          <p:nvPr/>
        </p:nvSpPr>
        <p:spPr>
          <a:xfrm>
            <a:off x="4311396" y="23774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pptx_work/icons/eye_126E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700" y="252374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11296" y="3291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OCR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511296" y="370332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google_mlkit_text_recognition lee el texto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5989320" y="34290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2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6199632" y="21031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4213D"/>
          </a:solidFill>
          <a:ln/>
        </p:spPr>
      </p:sp>
      <p:sp>
        <p:nvSpPr>
          <p:cNvPr id="17" name="Shape 13"/>
          <p:cNvSpPr/>
          <p:nvPr/>
        </p:nvSpPr>
        <p:spPr>
          <a:xfrm>
            <a:off x="7136892" y="23774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/home/claude/pptx_work/icons/list_14213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3196" y="252374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36792" y="3291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Parseo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336792" y="370332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ReceiptParser estructura proveedor, items, totales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8814816" y="34290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2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9025128" y="21031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26E62"/>
          </a:solidFill>
          <a:ln/>
        </p:spPr>
      </p:sp>
      <p:sp>
        <p:nvSpPr>
          <p:cNvPr id="23" name="Shape 18"/>
          <p:cNvSpPr/>
          <p:nvPr/>
        </p:nvSpPr>
        <p:spPr>
          <a:xfrm>
            <a:off x="9962388" y="23774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/home/claude/pptx_work/icons/database_126E6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8692" y="2523744"/>
            <a:ext cx="438912" cy="43891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162288" y="3291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Guardado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9162288" y="370332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Sqflite persiste la factura localmente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2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 clave: image_picker · google_mlkit_text_recognition · path_provider · sqflite / sqflite_common_ffi · mobile_scanner (QR) · provider (inyección de dependencias)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Cumplimiento de la consigna</a:t>
            </a:r>
            <a:endParaRPr lang="en-US" sz="3000" dirty="0"/>
          </a:p>
        </p:txBody>
      </p:sp>
      <p:pic>
        <p:nvPicPr>
          <p:cNvPr id="3" name="Image 0" descr="/home/claude/pptx_work/icons/check_C879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71600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13258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trivial con gestión de datos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394960" y="132588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4D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gasto personal por facturas/tickets</a:t>
            </a:r>
            <a:endParaRPr lang="en-US" sz="1250" dirty="0"/>
          </a:p>
        </p:txBody>
      </p:sp>
      <p:pic>
        <p:nvPicPr>
          <p:cNvPr id="6" name="Image 1" descr="/home/claude/pptx_work/icons/check_C879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94560"/>
            <a:ext cx="292608" cy="29260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51560" y="21488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local, gestor elegido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394960" y="214884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4D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Sqflite — 5 tablas relacionadas</a:t>
            </a:r>
            <a:endParaRPr lang="en-US" sz="1250" dirty="0"/>
          </a:p>
        </p:txBody>
      </p:sp>
      <p:pic>
        <p:nvPicPr>
          <p:cNvPr id="9" name="Image 2" descr="/home/claude/pptx_work/icons/check_C879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017520"/>
            <a:ext cx="292608" cy="29260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51560" y="29718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3 archivos de datos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5394960" y="29718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4D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tablas: suppliers, categories, invoices, invoice_items, invoice_images</a:t>
            </a:r>
            <a:endParaRPr lang="en-US" sz="1250" dirty="0"/>
          </a:p>
        </p:txBody>
      </p:sp>
      <p:pic>
        <p:nvPicPr>
          <p:cNvPr id="12" name="Image 3" descr="/home/claude/pptx_work/icons/check_C879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840480"/>
            <a:ext cx="292608" cy="29260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051560" y="37947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</a:t>
            </a:r>
            <a:endParaRPr lang="en-US" sz="1300" dirty="0"/>
          </a:p>
        </p:txBody>
      </p:sp>
      <p:sp>
        <p:nvSpPr>
          <p:cNvPr id="14" name="Text 8"/>
          <p:cNvSpPr txBox="1"/>
          <p:nvPr/>
        </p:nvSpPr>
        <p:spPr>
          <a:xfrm>
            <a:off x="5394960" y="379476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4D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Invoices, Suppliers y Categories — crear, leer, actualizar, eliminar</a:t>
            </a:r>
            <a:endParaRPr lang="en-US" sz="1250" dirty="0"/>
          </a:p>
        </p:txBody>
      </p:sp>
      <p:pic>
        <p:nvPicPr>
          <p:cNvPr id="15" name="Image 4" descr="/home/claude/pptx_work/icons/check_C879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663440"/>
            <a:ext cx="292608" cy="2926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51560" y="46177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3 listados</a:t>
            </a:r>
            <a:endParaRPr lang="en-US" sz="1300" dirty="0"/>
          </a:p>
        </p:txBody>
      </p:sp>
      <p:sp>
        <p:nvSpPr>
          <p:cNvPr id="17" name="Text 10"/>
          <p:cNvSpPr txBox="1"/>
          <p:nvPr/>
        </p:nvSpPr>
        <p:spPr>
          <a:xfrm>
            <a:off x="5394960" y="461772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4D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Inicio, Facturas, Proveedores y Categorías (4 listados)</a:t>
            </a:r>
            <a:endParaRPr lang="en-US" sz="1250" dirty="0"/>
          </a:p>
        </p:txBody>
      </p:sp>
      <p:pic>
        <p:nvPicPr>
          <p:cNvPr id="18" name="Image 5" descr="/home/claude/pptx_work/icons/check_C879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486400"/>
            <a:ext cx="292608" cy="292608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051560" y="54406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par de estadísticas</a:t>
            </a:r>
            <a:endParaRPr lang="en-US" sz="1300" dirty="0"/>
          </a:p>
        </p:txBody>
      </p:sp>
      <p:sp>
        <p:nvSpPr>
          <p:cNvPr id="20" name="Text 12"/>
          <p:cNvSpPr txBox="1"/>
          <p:nvPr/>
        </p:nvSpPr>
        <p:spPr>
          <a:xfrm>
            <a:off x="5394960" y="544068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4D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mensual, variación, ticket promedio, pendientes, gasto por categoría y por proveedor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01184" y="2103120"/>
            <a:ext cx="2377440" cy="2377440"/>
          </a:xfrm>
          <a:prstGeom prst="roundRect">
            <a:avLst>
              <a:gd name="adj" fmla="val 50000"/>
            </a:avLst>
          </a:prstGeom>
          <a:solidFill>
            <a:srgbClr val="126E62"/>
          </a:solidFill>
          <a:ln/>
        </p:spPr>
      </p:sp>
      <p:pic>
        <p:nvPicPr>
          <p:cNvPr id="3" name="Image 0" descr="/home/claude/pptx_work/icons/filetex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28346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7091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7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FacturaLens · Preguntas y demo en vivo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788</Words>
  <Application>Microsoft Office PowerPoint</Application>
  <PresentationFormat>Widescreen</PresentationFormat>
  <Paragraphs>121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yitzhak matias flores</cp:lastModifiedBy>
  <cp:revision>2</cp:revision>
  <dcterms:created xsi:type="dcterms:W3CDTF">2026-08-27T00:43:59Z</dcterms:created>
  <dcterms:modified xsi:type="dcterms:W3CDTF">2026-08-27T01:31:49Z</dcterms:modified>
</cp:coreProperties>
</file>